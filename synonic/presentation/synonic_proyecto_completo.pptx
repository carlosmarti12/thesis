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00000"/>
            <a:ext cx="11185855" cy="7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SYNONIC — RESUMEN DEL PROYECTO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870000"/>
            <a:ext cx="11185855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>
                <a:solidFill>
                  <a:srgbClr val="3D8BD3"/>
                </a:solidFill>
                <a:latin typeface="Calibri"/>
              </a:rPr>
              <a:t>Objetivo, arquitectura, métodos y métricas de una tarea de descubrimiento abierto de sinónimos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420000"/>
            <a:ext cx="11185855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C9D3E0"/>
                </a:solidFill>
                <a:latin typeface="Calibri"/>
              </a:rPr>
              <a:t>Qué hemos hecho, cómo lo hemos hecho y cómo lo medimos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300000"/>
            <a:ext cx="90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55B66"/>
                </a:solidFill>
                <a:latin typeface="Calibri"/>
              </a:rPr>
              <a:t>Carlos Martínez  ·  Proyecto synonic/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1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3D8BD3"/>
                </a:solidFill>
                <a:latin typeface="Calibri"/>
              </a:rPr>
              <a:t>ÍNDICE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55B66"/>
                </a:solidFill>
                <a:latin typeface="Calibri"/>
              </a:rPr>
              <a:t>synonic — resumen del proyecto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0528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5B66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700">
                <a:solidFill>
                  <a:srgbClr val="1A1A1A"/>
                </a:solidFill>
                <a:latin typeface="Calibri"/>
              </a:rPr>
              <a:t>•  Objetivo y definición de la tarea</a:t>
            </a:r>
          </a:p>
          <a:p>
            <a:pPr>
              <a:spcAft>
                <a:spcPts val="800"/>
              </a:spcAft>
            </a:pPr>
            <a:r>
              <a:rPr b="1" sz="1700">
                <a:solidFill>
                  <a:srgbClr val="1A1A1A"/>
                </a:solidFill>
                <a:latin typeface="Calibri"/>
              </a:rPr>
              <a:t>•  Por qué existe este rebuild — el problema de data leakage</a:t>
            </a:r>
          </a:p>
          <a:p>
            <a:pPr>
              <a:spcAft>
                <a:spcPts val="800"/>
              </a:spcAft>
            </a:pPr>
            <a:r>
              <a:rPr b="1" sz="1700">
                <a:solidFill>
                  <a:srgbClr val="1A1A1A"/>
                </a:solidFill>
                <a:latin typeface="Calibri"/>
              </a:rPr>
              <a:t>•  Dataset y muestra de evaluación</a:t>
            </a:r>
          </a:p>
          <a:p>
            <a:pPr>
              <a:spcAft>
                <a:spcPts val="800"/>
              </a:spcAft>
            </a:pPr>
            <a:r>
              <a:rPr b="1" sz="1700">
                <a:solidFill>
                  <a:srgbClr val="1A1A1A"/>
                </a:solidFill>
                <a:latin typeface="Calibri"/>
              </a:rPr>
              <a:t>•  Arquitectura general del proyecto</a:t>
            </a:r>
          </a:p>
          <a:p>
            <a:pPr>
              <a:spcAft>
                <a:spcPts val="800"/>
              </a:spcAft>
            </a:pPr>
            <a:r>
              <a:rPr b="1" sz="1700">
                <a:solidFill>
                  <a:srgbClr val="1A1A1A"/>
                </a:solidFill>
                <a:latin typeface="Calibri"/>
              </a:rPr>
              <a:t>•  Los 11 métodos implementados</a:t>
            </a:r>
          </a:p>
          <a:p>
            <a:pPr>
              <a:spcAft>
                <a:spcPts val="800"/>
              </a:spcAft>
            </a:pPr>
            <a:r>
              <a:rPr b="1" sz="1700">
                <a:solidFill>
                  <a:srgbClr val="1A1A1A"/>
                </a:solidFill>
                <a:latin typeface="Calibri"/>
              </a:rPr>
              <a:t>•  Cómo medimos — las métricas</a:t>
            </a:r>
          </a:p>
          <a:p>
            <a:pPr>
              <a:spcAft>
                <a:spcPts val="800"/>
              </a:spcAft>
            </a:pPr>
            <a:r>
              <a:rPr b="1" sz="1700">
                <a:solidFill>
                  <a:srgbClr val="1A1A1A"/>
                </a:solidFill>
                <a:latin typeface="Calibri"/>
              </a:rPr>
              <a:t>•  Resultados (100 términos, llama3.2:3b)</a:t>
            </a:r>
          </a:p>
          <a:p>
            <a:pPr>
              <a:spcAft>
                <a:spcPts val="800"/>
              </a:spcAft>
            </a:pPr>
            <a:r>
              <a:rPr b="1" sz="1700">
                <a:solidFill>
                  <a:srgbClr val="1A1A1A"/>
                </a:solidFill>
                <a:latin typeface="Calibri"/>
              </a:rPr>
              <a:t>•  Hallazgos clave y limitaciones</a:t>
            </a:r>
          </a:p>
          <a:p>
            <a:pPr>
              <a:spcAft>
                <a:spcPts val="800"/>
              </a:spcAft>
            </a:pPr>
            <a:r>
              <a:rPr b="1" sz="1700">
                <a:solidFill>
                  <a:srgbClr val="1A1A1A"/>
                </a:solidFill>
                <a:latin typeface="Calibri"/>
              </a:rPr>
              <a:t>•  Próximos pasos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1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3D8BD3"/>
                </a:solidFill>
                <a:latin typeface="Calibri"/>
              </a:rPr>
              <a:t>OBJETIVO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Calibri"/>
              </a:rPr>
              <a:t>Definición de la tarea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55B66"/>
                </a:solidFill>
                <a:latin typeface="Calibri"/>
              </a:rPr>
              <a:t>synonic — resumen del proyecto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0528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5B66"/>
                </a:solidFill>
                <a:latin typeface="Calibr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700">
                <a:solidFill>
                  <a:srgbClr val="1A1A1A"/>
                </a:solidFill>
                <a:latin typeface="Calibri"/>
              </a:rPr>
              <a:t>•  Open synonym discovery</a:t>
            </a:r>
          </a:p>
          <a:p>
            <a:pPr>
              <a:spcAft>
                <a:spcPts val="400"/>
              </a:spcAft>
            </a:pPr>
            <a:r>
              <a:rPr b="0" sz="1500">
                <a:solidFill>
                  <a:srgbClr val="1A1A1A"/>
                </a:solidFill>
                <a:latin typeface="Calibri"/>
              </a:rPr>
              <a:t>‒  Dado un término académico (p.ej. "stocks"), encontrar sus sinónimos o etiquetas alternativas tal y como aparecerían en una taxonomía/base de datos académica</a:t>
            </a:r>
          </a:p>
          <a:p>
            <a:pPr>
              <a:spcAft>
                <a:spcPts val="400"/>
              </a:spcAft>
            </a:pPr>
            <a:r>
              <a:rPr b="0" sz="1500">
                <a:solidFill>
                  <a:srgbClr val="1A1A1A"/>
                </a:solidFill>
                <a:latin typeface="Calibri"/>
              </a:rPr>
              <a:t>‒  La referencia (ground truth) es la columna en_synonym del dataset TU-Expert-Collection-Topic-Synonyms</a:t>
            </a:r>
          </a:p>
          <a:p>
            <a:pPr>
              <a:spcAft>
                <a:spcPts val="800"/>
              </a:spcAft>
            </a:pPr>
            <a:r>
              <a:rPr b="1" sz="1700">
                <a:solidFill>
                  <a:srgbClr val="1A1A1A"/>
                </a:solidFill>
                <a:latin typeface="Calibri"/>
              </a:rPr>
              <a:t>•  Regla central: descubrimiento abierto</a:t>
            </a:r>
          </a:p>
          <a:p>
            <a:pPr>
              <a:spcAft>
                <a:spcPts val="400"/>
              </a:spcAft>
            </a:pPr>
            <a:r>
              <a:rPr b="0" sz="1500">
                <a:solidFill>
                  <a:srgbClr val="1A1A1A"/>
                </a:solidFill>
                <a:latin typeface="Calibri"/>
              </a:rPr>
              <a:t>‒  Un método solo puede ver el término de entrada (en) — nunca en_synonym hasta el momento de evaluar</a:t>
            </a:r>
          </a:p>
          <a:p>
            <a:pPr>
              <a:spcAft>
                <a:spcPts val="400"/>
              </a:spcAft>
            </a:pPr>
            <a:r>
              <a:rPr b="0" sz="1500">
                <a:solidFill>
                  <a:srgbClr val="1A1A1A"/>
                </a:solidFill>
                <a:latin typeface="Calibri"/>
              </a:rPr>
              <a:t>‒  en_synonym únicamente sirve para puntuar un resultado ya producido, nunca para ayudar a producirlo</a:t>
            </a:r>
          </a:p>
          <a:p>
            <a:pPr>
              <a:spcAft>
                <a:spcPts val="800"/>
              </a:spcAft>
            </a:pPr>
            <a:r>
              <a:rPr b="1" sz="1700">
                <a:solidFill>
                  <a:srgbClr val="1A1A1A"/>
                </a:solidFill>
                <a:latin typeface="Calibri"/>
              </a:rPr>
              <a:t>•  Por qué importa</a:t>
            </a:r>
          </a:p>
          <a:p>
            <a:pPr>
              <a:spcAft>
                <a:spcPts val="400"/>
              </a:spcAft>
            </a:pPr>
            <a:r>
              <a:rPr b="0" sz="1500">
                <a:solidFill>
                  <a:srgbClr val="1A1A1A"/>
                </a:solidFill>
                <a:latin typeface="Calibri"/>
              </a:rPr>
              <a:t>‒  Simula un despliegue real: en producción no existe una "respuesta correcta" a la que buscar dentro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1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3D8BD3"/>
                </a:solidFill>
                <a:latin typeface="Calibri"/>
              </a:rPr>
              <a:t>RIGOR METODOLÓGICO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Calibri"/>
              </a:rPr>
              <a:t>El problema de data leakage y su corrección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55B66"/>
                </a:solidFill>
                <a:latin typeface="Calibri"/>
              </a:rPr>
              <a:t>synonic — resumen del proyecto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0528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5B66"/>
                </a:solidFill>
                <a:latin typeface="Calibri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700">
                <a:solidFill>
                  <a:srgbClr val="1A1A1A"/>
                </a:solidFill>
                <a:latin typeface="Calibri"/>
              </a:rPr>
              <a:t>•  Hallazgo en la iteración anterior (new/src2/)</a:t>
            </a:r>
          </a:p>
          <a:p>
            <a:pPr>
              <a:spcAft>
                <a:spcPts val="400"/>
              </a:spcAft>
            </a:pPr>
            <a:r>
              <a:rPr b="0" sz="1500">
                <a:solidFill>
                  <a:srgbClr val="1A1A1A"/>
                </a:solidFill>
                <a:latin typeface="Calibri"/>
              </a:rPr>
              <a:t>‒  Varios métodos construían su índice de búsqueda directamente sobre df['en_synonym'] — la columna de respuestas</a:t>
            </a:r>
          </a:p>
          <a:p>
            <a:pPr>
              <a:spcAft>
                <a:spcPts val="400"/>
              </a:spcAft>
            </a:pPr>
            <a:r>
              <a:rPr b="0" sz="1500">
                <a:solidFill>
                  <a:srgbClr val="1A1A1A"/>
                </a:solidFill>
                <a:latin typeface="Calibri"/>
              </a:rPr>
              <a:t>‒  Afectaba a: embedding retrieval, expansión LLM, y las 3 variantes MAS (su retrieval_agent)</a:t>
            </a:r>
          </a:p>
          <a:p>
            <a:pPr>
              <a:spcAft>
                <a:spcPts val="400"/>
              </a:spcAft>
            </a:pPr>
            <a:r>
              <a:rPr b="0" sz="1500">
                <a:solidFill>
                  <a:srgbClr val="1A1A1A"/>
                </a:solidFill>
                <a:latin typeface="Calibri"/>
              </a:rPr>
              <a:t>‒  Resultado: el sistema buscaba literalmente dentro de la respuesta correcta → métricas infladas, no representativas de un uso real</a:t>
            </a:r>
          </a:p>
          <a:p>
            <a:pPr>
              <a:spcAft>
                <a:spcPts val="800"/>
              </a:spcAft>
            </a:pPr>
            <a:r>
              <a:rPr b="1" sz="1700">
                <a:solidFill>
                  <a:srgbClr val="1A1A1A"/>
                </a:solidFill>
                <a:latin typeface="Calibri"/>
              </a:rPr>
              <a:t>•  Corrección aplicada en synonic/</a:t>
            </a:r>
          </a:p>
          <a:p>
            <a:pPr>
              <a:spcAft>
                <a:spcPts val="400"/>
              </a:spcAft>
            </a:pPr>
            <a:r>
              <a:rPr b="0" sz="1500">
                <a:solidFill>
                  <a:srgbClr val="1A1A1A"/>
                </a:solidFill>
                <a:latin typeface="Calibri"/>
              </a:rPr>
              <a:t>‒  El vocabulario de candidatos ahora viene de WordNet (src/open_vocab.py) — recurso totalmente independiente del dataset</a:t>
            </a:r>
          </a:p>
          <a:p>
            <a:pPr>
              <a:spcAft>
                <a:spcPts val="400"/>
              </a:spcAft>
            </a:pPr>
            <a:r>
              <a:rPr b="0" sz="1500">
                <a:solidFill>
                  <a:srgbClr val="1A1A1A"/>
                </a:solidFill>
                <a:latin typeface="Calibri"/>
              </a:rPr>
              <a:t>‒  en_synonym se lee en un único punto de todo el código: run_experiment.py, dentro del bucle principal, siempre después de generar los candidatos</a:t>
            </a:r>
          </a:p>
          <a:p>
            <a:pPr>
              <a:spcAft>
                <a:spcPts val="400"/>
              </a:spcAft>
            </a:pPr>
            <a:r>
              <a:rPr b="0" sz="1500">
                <a:solidFill>
                  <a:srgbClr val="1A1A1A"/>
                </a:solidFill>
                <a:latin typeface="Calibri"/>
              </a:rPr>
              <a:t>‒  Verificable en cualquier momento: grep en_synonym src/ — cualquier otra aparición es solo comentario/docstring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1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3D8BD3"/>
                </a:solidFill>
                <a:latin typeface="Calibri"/>
              </a:rPr>
              <a:t>DATOS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Calibri"/>
              </a:rPr>
              <a:t>Dataset y muestra de evaluación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55B66"/>
                </a:solidFill>
                <a:latin typeface="Calibri"/>
              </a:rPr>
              <a:t>synonic — resumen del proyecto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0528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5B66"/>
                </a:solidFill>
                <a:latin typeface="Calibri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700">
                <a:solidFill>
                  <a:srgbClr val="1A1A1A"/>
                </a:solidFill>
                <a:latin typeface="Calibri"/>
              </a:rPr>
              <a:t>•  Fuente</a:t>
            </a:r>
          </a:p>
          <a:p>
            <a:pPr>
              <a:spcAft>
                <a:spcPts val="400"/>
              </a:spcAft>
            </a:pPr>
            <a:r>
              <a:rPr b="0" sz="1500">
                <a:solidFill>
                  <a:srgbClr val="1A1A1A"/>
                </a:solidFill>
                <a:latin typeface="Calibri"/>
              </a:rPr>
              <a:t>‒  jensjorisdecorte/TU-Expert-Collection-Topic-Synonyms (HuggingFace)</a:t>
            </a:r>
          </a:p>
          <a:p>
            <a:pPr>
              <a:spcAft>
                <a:spcPts val="400"/>
              </a:spcAft>
            </a:pPr>
            <a:r>
              <a:rPr b="0" sz="1500">
                <a:solidFill>
                  <a:srgbClr val="1A1A1A"/>
                </a:solidFill>
                <a:latin typeface="Calibri"/>
              </a:rPr>
              <a:t>‒  Se conservan solo topic, en (término de entrada) y en_synonym (referencia) — se descartan nl/nl_synonym (el proyecto es solo en inglés)</a:t>
            </a:r>
          </a:p>
          <a:p>
            <a:pPr>
              <a:spcAft>
                <a:spcPts val="800"/>
              </a:spcAft>
            </a:pPr>
            <a:r>
              <a:rPr b="1" sz="1700">
                <a:solidFill>
                  <a:srgbClr val="1A1A1A"/>
                </a:solidFill>
                <a:latin typeface="Calibri"/>
              </a:rPr>
              <a:t>•  Preparación</a:t>
            </a:r>
          </a:p>
          <a:p>
            <a:pPr>
              <a:spcAft>
                <a:spcPts val="400"/>
              </a:spcAft>
            </a:pPr>
            <a:r>
              <a:rPr b="0" sz="1500">
                <a:solidFill>
                  <a:srgbClr val="1A1A1A"/>
                </a:solidFill>
                <a:latin typeface="Calibri"/>
              </a:rPr>
              <a:t>‒  data/prepare_dataset.py → data/topic_synonyms_clean.csv — 970 filas tras eliminar vacíos y duplicados</a:t>
            </a:r>
          </a:p>
          <a:p>
            <a:pPr>
              <a:spcAft>
                <a:spcPts val="400"/>
              </a:spcAft>
            </a:pPr>
            <a:r>
              <a:rPr b="0" sz="1500">
                <a:solidFill>
                  <a:srgbClr val="1A1A1A"/>
                </a:solidFill>
                <a:latin typeface="Calibri"/>
              </a:rPr>
              <a:t>‒  data/make_eval_sample.py → data/eval_sample.csv — muestra fija de 100 filas, semilla fija (random_state=42)</a:t>
            </a:r>
          </a:p>
          <a:p>
            <a:pPr>
              <a:spcAft>
                <a:spcPts val="400"/>
              </a:spcAft>
            </a:pPr>
            <a:r>
              <a:rPr b="0" sz="1500">
                <a:solidFill>
                  <a:srgbClr val="1A1A1A"/>
                </a:solidFill>
                <a:latin typeface="Calibri"/>
              </a:rPr>
              <a:t>‒  La semilla fija garantiza que todos los métodos se comparan sobre exactamente las mismas filas, de forma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1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3D8BD3"/>
                </a:solidFill>
                <a:latin typeface="Calibri"/>
              </a:rPr>
              <a:t>ARQUITECTURA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Calibri"/>
              </a:rPr>
              <a:t>Cómo está organizado el proyecto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55B66"/>
                </a:solidFill>
                <a:latin typeface="Calibri"/>
              </a:rPr>
              <a:t>synonic — resumen del proyecto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0528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5B66"/>
                </a:solidFill>
                <a:latin typeface="Calibri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700">
                <a:solidFill>
                  <a:srgbClr val="1A1A1A"/>
                </a:solidFill>
                <a:latin typeface="Calibri"/>
              </a:rPr>
              <a:t>•  Flujo general</a:t>
            </a:r>
          </a:p>
          <a:p>
            <a:pPr>
              <a:spcAft>
                <a:spcPts val="400"/>
              </a:spcAft>
            </a:pPr>
            <a:r>
              <a:rPr b="0" sz="1500">
                <a:solidFill>
                  <a:srgbClr val="1A1A1A"/>
                </a:solidFill>
                <a:latin typeface="Calibri"/>
              </a:rPr>
              <a:t>‒  data/ → dataset limpio + muestra fija de evaluación</a:t>
            </a:r>
          </a:p>
          <a:p>
            <a:pPr>
              <a:spcAft>
                <a:spcPts val="400"/>
              </a:spcAft>
            </a:pPr>
            <a:r>
              <a:rPr b="0" sz="1500">
                <a:solidFill>
                  <a:srgbClr val="1A1A1A"/>
                </a:solidFill>
                <a:latin typeface="Calibri"/>
              </a:rPr>
              <a:t>‒  src/open_vocab.py → índice de vocabulario WordNet (~147k frases), cacheado en data/cache/</a:t>
            </a:r>
          </a:p>
          <a:p>
            <a:pPr>
              <a:spcAft>
                <a:spcPts val="400"/>
              </a:spcAft>
            </a:pPr>
            <a:r>
              <a:rPr b="0" sz="1500">
                <a:solidFill>
                  <a:srgbClr val="1A1A1A"/>
                </a:solidFill>
                <a:latin typeface="Calibri"/>
              </a:rPr>
              <a:t>‒  src/llm.py → único punto de acceso a Ollama (ask_llm, parse_candidates)</a:t>
            </a:r>
          </a:p>
          <a:p>
            <a:pPr>
              <a:spcAft>
                <a:spcPts val="400"/>
              </a:spcAft>
            </a:pPr>
            <a:r>
              <a:rPr b="0" sz="1500">
                <a:solidFill>
                  <a:srgbClr val="1A1A1A"/>
                </a:solidFill>
                <a:latin typeface="Calibri"/>
              </a:rPr>
              <a:t>‒  src/baselines.py + src/agents.py/graph.py + src/supervisor/ → los 11 métodos</a:t>
            </a:r>
          </a:p>
          <a:p>
            <a:pPr>
              <a:spcAft>
                <a:spcPts val="400"/>
              </a:spcAft>
            </a:pPr>
            <a:r>
              <a:rPr b="0" sz="1500">
                <a:solidFill>
                  <a:srgbClr val="1A1A1A"/>
                </a:solidFill>
                <a:latin typeface="Calibri"/>
              </a:rPr>
              <a:t>‒  src/evaluation.py → todas las métricas, documentadas</a:t>
            </a:r>
          </a:p>
          <a:p>
            <a:pPr>
              <a:spcAft>
                <a:spcPts val="400"/>
              </a:spcAft>
            </a:pPr>
            <a:r>
              <a:rPr b="0" sz="1500">
                <a:solidFill>
                  <a:srgbClr val="1A1A1A"/>
                </a:solidFill>
                <a:latin typeface="Calibri"/>
              </a:rPr>
              <a:t>‒  src/run_experiment.py (un método) / src/run_comparison.py (los 11 a la vez) → resultados/*.csv</a:t>
            </a:r>
          </a:p>
          <a:p>
            <a:pPr>
              <a:spcAft>
                <a:spcPts val="800"/>
              </a:spcAft>
            </a:pPr>
            <a:r>
              <a:rPr b="1" sz="1700">
                <a:solidFill>
                  <a:srgbClr val="1A1A1A"/>
                </a:solidFill>
                <a:latin typeface="Calibri"/>
              </a:rPr>
              <a:t>•  Diseño clave</a:t>
            </a:r>
          </a:p>
          <a:p>
            <a:pPr>
              <a:spcAft>
                <a:spcPts val="400"/>
              </a:spcAft>
            </a:pPr>
            <a:r>
              <a:rPr b="0" sz="1500">
                <a:solidFill>
                  <a:srgbClr val="1A1A1A"/>
                </a:solidFill>
                <a:latin typeface="Calibri"/>
              </a:rPr>
              <a:t>‒  Todo método recibe solo term + recursos compartidos (embedder/LLM/índice) — nunca el dataframe completo</a:t>
            </a:r>
          </a:p>
          <a:p>
            <a:pPr>
              <a:spcAft>
                <a:spcPts val="400"/>
              </a:spcAft>
            </a:pPr>
            <a:r>
              <a:rPr b="0" sz="1500">
                <a:solidFill>
                  <a:srgbClr val="1A1A1A"/>
                </a:solidFill>
                <a:latin typeface="Calibri"/>
              </a:rPr>
              <a:t>‒  Ambos CLIs son resumibles: si el CSV ya tiene filas para (término, método), se saltan — seguro interrumpir y continuar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1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3D8BD3"/>
                </a:solidFill>
                <a:latin typeface="Calibri"/>
              </a:rPr>
              <a:t>MÉTODOS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Calibri"/>
              </a:rPr>
              <a:t>Los 11 métodos implementados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55B66"/>
                </a:solidFill>
                <a:latin typeface="Calibri"/>
              </a:rPr>
              <a:t>synonic — resumen del proyecto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0528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5B66"/>
                </a:solidFill>
                <a:latin typeface="Calibri"/>
              </a:rPr>
              <a:t>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234440"/>
          <a:ext cx="11155680" cy="4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0000"/>
                <a:gridCol w="8355680"/>
              </a:tblGrid>
              <a:tr h="5750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Método</a:t>
                      </a:r>
                    </a:p>
                  </a:txBody>
                  <a:tcPr>
                    <a:solidFill>
                      <a:srgbClr val="111D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Descripción</a:t>
                      </a:r>
                    </a:p>
                  </a:txBody>
                  <a:tcPr>
                    <a:solidFill>
                      <a:srgbClr val="111D3A"/>
                    </a:solidFill>
                  </a:tcPr>
                </a:tc>
              </a:tr>
              <a:tr h="57500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same_term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Devuelve el propio término. Suelo (floor) de referencia.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500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wordnet_direct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Lemas de los synsets de WordNet que contienen el término. Simbólico, sin ML.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500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embedding_wordnet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Embedding del término (MiniLM) + top-5 vecinos por coseno en el índice WordNet.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500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llm_zero_shot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Pide 5 sinónimos directamente al LLM, sin recuperación.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500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llm_expansion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El LLM genera 6 variantes de consulta; se buscan en WordNet y se agregan por score.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500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llm_rerank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El LLM genera 10 candidatos libres; se reordenan por similitud de embedding.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500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hybrid_fusion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3 llamadas LLM (self-consistency) + recuperación WordNet, fusionadas con RRF ponderado.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1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3D8BD3"/>
                </a:solidFill>
                <a:latin typeface="Calibri"/>
              </a:rPr>
              <a:t>MÉTODOS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Calibri"/>
              </a:rPr>
              <a:t>Los 11 métodos implementados (2/2) — MAS y supervisor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55B66"/>
                </a:solidFill>
                <a:latin typeface="Calibri"/>
              </a:rPr>
              <a:t>synonic — resumen del proyecto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0528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5B66"/>
                </a:solidFill>
                <a:latin typeface="Calibri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700">
                <a:solidFill>
                  <a:srgbClr val="1A1A1A"/>
                </a:solidFill>
                <a:latin typeface="Calibri"/>
              </a:rPr>
              <a:t>•  mas_base (v1)</a:t>
            </a:r>
          </a:p>
          <a:p>
            <a:pPr>
              <a:spcAft>
                <a:spcPts val="400"/>
              </a:spcAft>
            </a:pPr>
            <a:r>
              <a:rPr b="0" sz="1500">
                <a:solidFill>
                  <a:srgbClr val="1A1A1A"/>
                </a:solidFill>
                <a:latin typeface="Calibri"/>
              </a:rPr>
              <a:t>‒  generator(LLM) + retrieval(WordNet) → merge → verification (0.75·semántico + 0.25·fuzzy) → top 5</a:t>
            </a:r>
          </a:p>
          <a:p>
            <a:pPr>
              <a:spcAft>
                <a:spcPts val="800"/>
              </a:spcAft>
            </a:pPr>
            <a:r>
              <a:rPr b="1" sz="1700">
                <a:solidFill>
                  <a:srgbClr val="1A1A1A"/>
                </a:solidFill>
                <a:latin typeface="Calibri"/>
              </a:rPr>
              <a:t>•  mas_llm_ranker (v2)</a:t>
            </a:r>
          </a:p>
          <a:p>
            <a:pPr>
              <a:spcAft>
                <a:spcPts val="400"/>
              </a:spcAft>
            </a:pPr>
            <a:r>
              <a:rPr b="0" sz="1500">
                <a:solidFill>
                  <a:srgbClr val="1A1A1A"/>
                </a:solidFill>
                <a:latin typeface="Calibri"/>
              </a:rPr>
              <a:t>‒  retrieval → generator → merge → un LLM reordena la lista completa → top 5. Ablación negativa confirmada</a:t>
            </a:r>
          </a:p>
          <a:p>
            <a:pPr>
              <a:spcAft>
                <a:spcPts val="800"/>
              </a:spcAft>
            </a:pPr>
            <a:r>
              <a:rPr b="1" sz="1700">
                <a:solidFill>
                  <a:srgbClr val="1A1A1A"/>
                </a:solidFill>
                <a:latin typeface="Calibri"/>
              </a:rPr>
              <a:t>•  mas_safe_hybrid (v3)</a:t>
            </a:r>
          </a:p>
          <a:p>
            <a:pPr>
              <a:spcAft>
                <a:spcPts val="400"/>
              </a:spcAft>
            </a:pPr>
            <a:r>
              <a:rPr b="0" sz="1500">
                <a:solidFill>
                  <a:srgbClr val="1A1A1A"/>
                </a:solidFill>
                <a:latin typeface="Calibri"/>
              </a:rPr>
              <a:t>‒  Igual que v2 + safe_finalizer: 0.9·embedding_sim + 0.1·bonus del LLM (nunca penaliza)</a:t>
            </a:r>
          </a:p>
          <a:p>
            <a:pPr>
              <a:spcAft>
                <a:spcPts val="800"/>
              </a:spcAft>
            </a:pPr>
            <a:r>
              <a:rPr b="1" sz="1700">
                <a:solidFill>
                  <a:srgbClr val="1A1A1A"/>
                </a:solidFill>
                <a:latin typeface="Calibri"/>
              </a:rPr>
              <a:t>•  supervisor</a:t>
            </a:r>
          </a:p>
          <a:p>
            <a:pPr>
              <a:spcAft>
                <a:spcPts val="400"/>
              </a:spcAft>
            </a:pPr>
            <a:r>
              <a:rPr b="0" sz="1500">
                <a:solidFill>
                  <a:srgbClr val="1A1A1A"/>
                </a:solidFill>
                <a:latin typeface="Calibri"/>
              </a:rPr>
              <a:t>‒  Un único LLM decide, turno a turno, qué acción tomar (retrieve/generate/merge/score/finalize/finish)</a:t>
            </a:r>
          </a:p>
          <a:p>
            <a:pPr>
              <a:spcAft>
                <a:spcPts val="400"/>
              </a:spcAft>
            </a:pPr>
            <a:r>
              <a:rPr b="0" sz="1500">
                <a:solidFill>
                  <a:srgbClr val="1A1A1A"/>
                </a:solidFill>
                <a:latin typeface="Calibri"/>
              </a:rPr>
              <a:t>‒  Reutiliza las mismas funciones deterministas que los MAS — solo cambia quién decide el orden</a:t>
            </a:r>
          </a:p>
          <a:p>
            <a:pPr>
              <a:spcAft>
                <a:spcPts val="400"/>
              </a:spcAft>
            </a:pPr>
            <a:r>
              <a:rPr b="0" sz="1500">
                <a:solidFill>
                  <a:srgbClr val="1A1A1A"/>
                </a:solidFill>
                <a:latin typeface="Calibri"/>
              </a:rPr>
              <a:t>‒  Bug de planificación real encontrado y corregido con el propio harness de comparación (ver hallazgos)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1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3D8BD3"/>
                </a:solidFill>
                <a:latin typeface="Calibri"/>
              </a:rPr>
              <a:t>CÓMO MEDIMOS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Calibri"/>
              </a:rPr>
              <a:t>Definición de las métricas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55B66"/>
                </a:solidFill>
                <a:latin typeface="Calibri"/>
              </a:rPr>
              <a:t>synonic — resumen del proyecto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0528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5B66"/>
                </a:solidFill>
                <a:latin typeface="Calibri"/>
              </a:rPr>
              <a:t>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234440"/>
          <a:ext cx="11155680" cy="4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0000"/>
                <a:gridCol w="8255680"/>
              </a:tblGrid>
              <a:tr h="5750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Métrica</a:t>
                      </a:r>
                    </a:p>
                  </a:txBody>
                  <a:tcPr>
                    <a:solidFill>
                      <a:srgbClr val="111D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Qué mide</a:t>
                      </a:r>
                    </a:p>
                  </a:txBody>
                  <a:tcPr>
                    <a:solidFill>
                      <a:srgbClr val="111D3A"/>
                    </a:solidFill>
                  </a:tcPr>
                </a:tc>
              </a:tr>
              <a:tr h="57500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exact_top1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El candidato #1 coincide exactamente con la referencia.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500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exact_any / recall@5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La referencia aparece en cualquier posición de los 5 candidatos devueltos.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500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recall_at_3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La referencia aparece entre los 3 primeros candidatos.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500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precision_at_5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Solo hay un sinónimo de referencia por término → tope mecánico de 0.2; equivale a recall@5 / 5.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500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mrr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1 / posición de la respuesta correcta (0 si no aparece). Premia acertar cerca del top aunque no sea #1.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500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fuzzy_similarity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rapidfuzz.fuzz.ratio — cercanía léxica/ortográfica (p.ej. "optimise" vs "optimize").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500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semantic_similarity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Coseno de embeddings (MiniLM) — cercanía de significado, no de forma textual.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1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3D8BD3"/>
                </a:solidFill>
                <a:latin typeface="Calibri"/>
              </a:rPr>
              <a:t>RESULTADOS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Calibri"/>
              </a:rPr>
              <a:t>Comparativa completa — 100 términos, llama3.2:3b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55B66"/>
                </a:solidFill>
                <a:latin typeface="Calibri"/>
              </a:rPr>
              <a:t>synonic — resumen del proyecto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0528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5B66"/>
                </a:solidFill>
                <a:latin typeface="Calibri"/>
              </a:rPr>
              <a:t>10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234440"/>
          <a:ext cx="11185856" cy="4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000"/>
                <a:gridCol w="1996464"/>
                <a:gridCol w="1996464"/>
                <a:gridCol w="1996464"/>
                <a:gridCol w="1996464"/>
              </a:tblGrid>
              <a:tr h="383333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Método</a:t>
                      </a:r>
                    </a:p>
                  </a:txBody>
                  <a:tcPr>
                    <a:solidFill>
                      <a:srgbClr val="111D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MRR</a:t>
                      </a:r>
                    </a:p>
                  </a:txBody>
                  <a:tcPr>
                    <a:solidFill>
                      <a:srgbClr val="111D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exact_any</a:t>
                      </a:r>
                    </a:p>
                  </a:txBody>
                  <a:tcPr>
                    <a:solidFill>
                      <a:srgbClr val="111D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recall@5</a:t>
                      </a:r>
                    </a:p>
                  </a:txBody>
                  <a:tcPr>
                    <a:solidFill>
                      <a:srgbClr val="111D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Tiempo/término</a:t>
                      </a:r>
                    </a:p>
                  </a:txBody>
                  <a:tcPr>
                    <a:solidFill>
                      <a:srgbClr val="111D3A"/>
                    </a:solidFill>
                  </a:tcPr>
                </a:tc>
              </a:tr>
              <a:tr h="383333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same_term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0.00s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3333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wordnet_direct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0.060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0.01s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3333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embedding_wordnet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0.073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0.02s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3333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llm_zero_shot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0.201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26%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26%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0.69s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3333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llm_expansion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0.074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11%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11%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0.89s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3333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llm_rerank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0.182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26%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26%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1.01s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3333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hybrid_fusion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0.195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31%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31%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3.04s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3333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mas_base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0.119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20%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20%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1.02s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3333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mas_llm_ranker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0.120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18%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18%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3.74s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3333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mas_safe_hybrid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0.121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25%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25%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3.76s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3337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supervisor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0.121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21%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21%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7.23s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1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3D8BD3"/>
                </a:solidFill>
                <a:latin typeface="Calibri"/>
              </a:rPr>
              <a:t>HALLAZGOS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Calibri"/>
              </a:rPr>
              <a:t>Lectura de los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55B66"/>
                </a:solidFill>
                <a:latin typeface="Calibri"/>
              </a:rPr>
              <a:t>synonic — resumen del proyecto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0528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5B66"/>
                </a:solidFill>
                <a:latin typeface="Calibri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700">
                <a:solidFill>
                  <a:srgbClr val="1A1A1A"/>
                </a:solidFill>
                <a:latin typeface="Calibri"/>
              </a:rPr>
              <a:t>•  El patrón se repite en todas las iteraciones de la tesis</a:t>
            </a:r>
          </a:p>
          <a:p>
            <a:pPr>
              <a:spcAft>
                <a:spcPts val="400"/>
              </a:spcAft>
            </a:pPr>
            <a:r>
              <a:rPr b="0" sz="1500">
                <a:solidFill>
                  <a:srgbClr val="1A1A1A"/>
                </a:solidFill>
                <a:latin typeface="Calibri"/>
              </a:rPr>
              <a:t>‒  Los métodos de una sola llamada al LLM (llm_zero_shot, hybrid_fusion, llm_rerank) superan en MRR a las arquitecturas multiagente completas</a:t>
            </a:r>
          </a:p>
          <a:p>
            <a:pPr>
              <a:spcAft>
                <a:spcPts val="400"/>
              </a:spcAft>
            </a:pPr>
            <a:r>
              <a:rPr b="0" sz="1500">
                <a:solidFill>
                  <a:srgbClr val="1A1A1A"/>
                </a:solidFill>
                <a:latin typeface="Calibri"/>
              </a:rPr>
              <a:t>‒  Más "autonomía" agéntica (MAS, supervisor) no mejora los resultados frente a pipelines más simples — y cuesta más tiempo</a:t>
            </a:r>
          </a:p>
          <a:p>
            <a:pPr>
              <a:spcAft>
                <a:spcPts val="800"/>
              </a:spcAft>
            </a:pPr>
            <a:r>
              <a:rPr b="1" sz="1700">
                <a:solidFill>
                  <a:srgbClr val="1A1A1A"/>
                </a:solidFill>
                <a:latin typeface="Calibri"/>
              </a:rPr>
              <a:t>•  hybrid_fusion es el mejor en recall@5 / exact_any (31%)</a:t>
            </a:r>
          </a:p>
          <a:p>
            <a:pPr>
              <a:spcAft>
                <a:spcPts val="400"/>
              </a:spcAft>
            </a:pPr>
            <a:r>
              <a:rPr b="0" sz="1500">
                <a:solidFill>
                  <a:srgbClr val="1A1A1A"/>
                </a:solidFill>
                <a:latin typeface="Calibri"/>
              </a:rPr>
              <a:t>‒  Combinar generación LLM con self-consistency + recuperación WordNet vía RRF gana en cobertura, aunque no en MRR puro</a:t>
            </a:r>
          </a:p>
          <a:p>
            <a:pPr>
              <a:spcAft>
                <a:spcPts val="800"/>
              </a:spcAft>
            </a:pPr>
            <a:r>
              <a:rPr b="1" sz="1700">
                <a:solidFill>
                  <a:srgbClr val="1A1A1A"/>
                </a:solidFill>
                <a:latin typeface="Calibri"/>
              </a:rPr>
              <a:t>•  mas_llm_ranker (v2) confirma la ablación negativa</a:t>
            </a:r>
          </a:p>
          <a:p>
            <a:pPr>
              <a:spcAft>
                <a:spcPts val="400"/>
              </a:spcAft>
            </a:pPr>
            <a:r>
              <a:rPr b="0" sz="1500">
                <a:solidFill>
                  <a:srgbClr val="1A1A1A"/>
                </a:solidFill>
                <a:latin typeface="Calibri"/>
              </a:rPr>
              <a:t>‒  Dejar que el LLM reordene libremente la lista fusionada empeora el resultado frente a un ranking numérico (v1) o híbrido (v3)</a:t>
            </a:r>
          </a:p>
          <a:p>
            <a:pPr>
              <a:spcAft>
                <a:spcPts val="800"/>
              </a:spcAft>
            </a:pPr>
            <a:r>
              <a:rPr b="1" sz="1700">
                <a:solidFill>
                  <a:srgbClr val="1A1A1A"/>
                </a:solidFill>
                <a:latin typeface="Calibri"/>
              </a:rPr>
              <a:t>•  supervisor: bug de planificación real, encontrado y corregido</a:t>
            </a:r>
          </a:p>
          <a:p>
            <a:pPr>
              <a:spcAft>
                <a:spcPts val="400"/>
              </a:spcAft>
            </a:pPr>
            <a:r>
              <a:rPr b="0" sz="1500">
                <a:solidFill>
                  <a:srgbClr val="1A1A1A"/>
                </a:solidFill>
                <a:latin typeface="Calibri"/>
              </a:rPr>
              <a:t>‒  El LLM a veces generaba candidatos después de fusionar ("merge"), y esos candidatos quedaban huérfanos sin re-fusionar</a:t>
            </a:r>
          </a:p>
          <a:p>
            <a:pPr>
              <a:spcAft>
                <a:spcPts val="400"/>
              </a:spcAft>
            </a:pPr>
            <a:r>
              <a:rPr b="0" sz="1500">
                <a:solidFill>
                  <a:srgbClr val="1A1A1A"/>
                </a:solidFill>
                <a:latin typeface="Calibri"/>
              </a:rPr>
              <a:t>‒  Tras el fix (comprobar orden, no solo presencia, de acciones): mrr 0.091 → 0.122, recall@5 0.13 → 0.21</a:t>
            </a:r>
          </a:p>
          <a:p>
            <a:pPr>
              <a:spcAft>
                <a:spcPts val="800"/>
              </a:spcAft>
            </a:pPr>
            <a:r>
              <a:rPr b="1" sz="1700">
                <a:solidFill>
                  <a:srgbClr val="1A1A1A"/>
                </a:solidFill>
                <a:latin typeface="Calibri"/>
              </a:rPr>
              <a:t>•  Coste temporal</a:t>
            </a:r>
          </a:p>
          <a:p>
            <a:pPr>
              <a:spcAft>
                <a:spcPts val="400"/>
              </a:spcAft>
            </a:pPr>
            <a:r>
              <a:rPr b="0" sz="1500">
                <a:solidFill>
                  <a:srgbClr val="1A1A1A"/>
                </a:solidFill>
                <a:latin typeface="Calibri"/>
              </a:rPr>
              <a:t>‒  De 0s (same_term) a 7.2s/término (supervisor) — el método más lento no es el que mejor rinde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1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3D8BD3"/>
                </a:solidFill>
                <a:latin typeface="Calibri"/>
              </a:rPr>
              <a:t>LIMITACIONES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Calibri"/>
              </a:rPr>
              <a:t>Qué no cubre (todavía) este análisis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55B66"/>
                </a:solidFill>
                <a:latin typeface="Calibri"/>
              </a:rPr>
              <a:t>synonic — resumen del proyecto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0528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5B66"/>
                </a:solidFill>
                <a:latin typeface="Calibri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700">
                <a:solidFill>
                  <a:srgbClr val="1A1A1A"/>
                </a:solidFill>
                <a:latin typeface="Calibri"/>
              </a:rPr>
              <a:t>•  Modelo pequeño</a:t>
            </a:r>
          </a:p>
          <a:p>
            <a:pPr>
              <a:spcAft>
                <a:spcPts val="400"/>
              </a:spcAft>
            </a:pPr>
            <a:r>
              <a:rPr b="0" sz="1500">
                <a:solidFill>
                  <a:srgbClr val="1A1A1A"/>
                </a:solidFill>
                <a:latin typeface="Calibri"/>
              </a:rPr>
              <a:t>‒  llama3.2:3b vía Ollama — un modelo más grande probablemente mejoraría todos los métodos dependientes de LLM sin cambiar la arquitectura</a:t>
            </a:r>
          </a:p>
          <a:p>
            <a:pPr>
              <a:spcAft>
                <a:spcPts val="800"/>
              </a:spcAft>
            </a:pPr>
            <a:r>
              <a:rPr b="1" sz="1700">
                <a:solidFill>
                  <a:srgbClr val="1A1A1A"/>
                </a:solidFill>
                <a:latin typeface="Calibri"/>
              </a:rPr>
              <a:t>•  Techo de cobertura de WordNet</a:t>
            </a:r>
          </a:p>
          <a:p>
            <a:pPr>
              <a:spcAft>
                <a:spcPts val="400"/>
              </a:spcAft>
            </a:pPr>
            <a:r>
              <a:rPr b="0" sz="1500">
                <a:solidFill>
                  <a:srgbClr val="1A1A1A"/>
                </a:solidFill>
                <a:latin typeface="Calibri"/>
              </a:rPr>
              <a:t>‒  No contiene todos los términos específicos de dominio que espera el dataset — penaliza a los métodos anclados al índice (retrieval, MAS) frente a los puramente generativos</a:t>
            </a:r>
          </a:p>
          <a:p>
            <a:pPr>
              <a:spcAft>
                <a:spcPts val="800"/>
              </a:spcAft>
            </a:pPr>
            <a:r>
              <a:rPr b="1" sz="1700">
                <a:solidFill>
                  <a:srgbClr val="1A1A1A"/>
                </a:solidFill>
                <a:latin typeface="Calibri"/>
              </a:rPr>
              <a:t>•  Referencias idiosincráticas</a:t>
            </a:r>
          </a:p>
          <a:p>
            <a:pPr>
              <a:spcAft>
                <a:spcPts val="400"/>
              </a:spcAft>
            </a:pPr>
            <a:r>
              <a:rPr b="0" sz="1500">
                <a:solidFill>
                  <a:srgbClr val="1A1A1A"/>
                </a:solidFill>
                <a:latin typeface="Calibri"/>
              </a:rPr>
              <a:t>‒  Algunas respuestas de referencia son elecciones editoriales muy específicas que ningún método puede predecir solo a partir del término</a:t>
            </a:r>
          </a:p>
          <a:p>
            <a:pPr>
              <a:spcAft>
                <a:spcPts val="800"/>
              </a:spcAft>
            </a:pPr>
            <a:r>
              <a:rPr b="1" sz="1700">
                <a:solidFill>
                  <a:srgbClr val="1A1A1A"/>
                </a:solidFill>
                <a:latin typeface="Calibri"/>
              </a:rPr>
              <a:t>•  Escala de la muestra</a:t>
            </a:r>
          </a:p>
          <a:p>
            <a:pPr>
              <a:spcAft>
                <a:spcPts val="400"/>
              </a:spcAft>
            </a:pPr>
            <a:r>
              <a:rPr b="0" sz="1500">
                <a:solidFill>
                  <a:srgbClr val="1A1A1A"/>
                </a:solidFill>
                <a:latin typeface="Calibri"/>
              </a:rPr>
              <a:t>‒  100 de 970 términos disponibles — validar a mayor escala es el siguiente paso natural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1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3D8BD3"/>
                </a:solidFill>
                <a:latin typeface="Calibri"/>
              </a:rPr>
              <a:t>CIERRE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Calibri"/>
              </a:rPr>
              <a:t>Próximos pasos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55B66"/>
                </a:solidFill>
                <a:latin typeface="Calibri"/>
              </a:rPr>
              <a:t>synonic — resumen del proyecto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0528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5B66"/>
                </a:solidFill>
                <a:latin typeface="Calibri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700">
                <a:solidFill>
                  <a:srgbClr val="1A1A1A"/>
                </a:solidFill>
                <a:latin typeface="Calibri"/>
              </a:rPr>
              <a:t>•  Validar a mayor escala</a:t>
            </a:r>
          </a:p>
          <a:p>
            <a:pPr>
              <a:spcAft>
                <a:spcPts val="400"/>
              </a:spcAft>
            </a:pPr>
            <a:r>
              <a:rPr b="0" sz="1500">
                <a:solidFill>
                  <a:srgbClr val="1A1A1A"/>
                </a:solidFill>
                <a:latin typeface="Calibri"/>
              </a:rPr>
              <a:t>‒  Repetir la comparación completa sobre las 970 filas del dataset, no solo la muestra de 100</a:t>
            </a:r>
          </a:p>
          <a:p>
            <a:pPr>
              <a:spcAft>
                <a:spcPts val="800"/>
              </a:spcAft>
            </a:pPr>
            <a:r>
              <a:rPr b="1" sz="1700">
                <a:solidFill>
                  <a:srgbClr val="1A1A1A"/>
                </a:solidFill>
                <a:latin typeface="Calibri"/>
              </a:rPr>
              <a:t>•  Probar un modelo más grande</a:t>
            </a:r>
          </a:p>
          <a:p>
            <a:pPr>
              <a:spcAft>
                <a:spcPts val="400"/>
              </a:spcAft>
            </a:pPr>
            <a:r>
              <a:rPr b="0" sz="1500">
                <a:solidFill>
                  <a:srgbClr val="1A1A1A"/>
                </a:solidFill>
                <a:latin typeface="Calibri"/>
              </a:rPr>
              <a:t>‒  Medir cuánto del gap entre métodos se debe al tamaño del LLM y no a la arquitectura</a:t>
            </a:r>
          </a:p>
          <a:p>
            <a:pPr>
              <a:spcAft>
                <a:spcPts val="800"/>
              </a:spcAft>
            </a:pPr>
            <a:r>
              <a:rPr b="1" sz="1700">
                <a:solidFill>
                  <a:srgbClr val="1A1A1A"/>
                </a:solidFill>
                <a:latin typeface="Calibri"/>
              </a:rPr>
              <a:t>•  Profundizar en supervisor</a:t>
            </a:r>
          </a:p>
          <a:p>
            <a:pPr>
              <a:spcAft>
                <a:spcPts val="400"/>
              </a:spcAft>
            </a:pPr>
            <a:r>
              <a:rPr b="0" sz="1500">
                <a:solidFill>
                  <a:srgbClr val="1A1A1A"/>
                </a:solidFill>
                <a:latin typeface="Calibri"/>
              </a:rPr>
              <a:t>‒  Evaluar si separar el supervisor en agentes cognitivos independientes (desambiguación / generación / crítica) aporta valor real antes de construirlo</a:t>
            </a:r>
          </a:p>
          <a:p>
            <a:pPr>
              <a:spcAft>
                <a:spcPts val="800"/>
              </a:spcAft>
            </a:pPr>
            <a:r>
              <a:rPr b="1" sz="1700">
                <a:solidFill>
                  <a:srgbClr val="1A1A1A"/>
                </a:solidFill>
                <a:latin typeface="Calibri"/>
              </a:rPr>
              <a:t>•  Documentar para la memoria de tesis</a:t>
            </a:r>
          </a:p>
          <a:p>
            <a:pPr>
              <a:spcAft>
                <a:spcPts val="400"/>
              </a:spcAft>
            </a:pPr>
            <a:r>
              <a:rPr b="0" sz="1500">
                <a:solidFill>
                  <a:srgbClr val="1A1A1A"/>
                </a:solidFill>
                <a:latin typeface="Calibri"/>
              </a:rPr>
              <a:t>‒  Trasladar esta comparación y sus hallazgos al capítulo de resultados, con las tablas completas de comparison_results.csv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00000"/>
            <a:ext cx="11185855" cy="7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Preguntas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700000"/>
            <a:ext cx="11185855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3D8BD3"/>
                </a:solidFill>
                <a:latin typeface="Calibri"/>
              </a:rPr>
              <a:t>Código y resultados: proyecto synonic/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