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SYNONIC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Open Synonym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6D3E8"/>
                </a:solidFill>
                <a:latin typeface="Calibri"/>
              </a:rPr>
              <a:t>Methods, metrics, and a new hybrid approach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6D3E8"/>
                </a:solidFill>
                <a:latin typeface="Calibri"/>
              </a:rPr>
              <a:t>for academic synonym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C9BBF"/>
                </a:solidFill>
                <a:latin typeface="Calibri"/>
              </a:rPr>
              <a:t>Baselines, multi-agent architectures (MAS), and LLM + retrieval fusion, evaluated without data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3145536" cy="36576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Non-agentic baselines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7096" y="4617720"/>
            <a:ext cx="2633472" cy="36576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Multi-agent (MAS)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hybrid_fusion — new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89320"/>
            <a:ext cx="12191695" cy="12700"/>
          </a:xfrm>
          <a:prstGeom prst="rect">
            <a:avLst/>
          </a:prstGeom>
          <a:solidFill>
            <a:srgbClr val="27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7C4"/>
                </a:solidFill>
                <a:latin typeface="Calibri"/>
              </a:rPr>
              <a:t>Carlos Martínez  ·  synonic/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61722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7C4"/>
                </a:solidFill>
                <a:latin typeface="Calibri"/>
              </a:rPr>
              <a:t>Technical presentation — next week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600200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36776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Task definition &amp; the anti-data-leakage rule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532888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9464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Dataset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465576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02152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Existing methods: non-agentic baselines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398264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Existing methods: multi-agent (MAS) architectures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5330952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67528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Metrics: full technical definitions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36776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Methodological finding: a corrupted reference, and the fix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532888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69464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New proposed method: hybrid_fusion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465576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02152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Results: quality and time cost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4398264"/>
            <a:ext cx="420624" cy="420624"/>
          </a:xfrm>
          <a:prstGeom prst="ellipse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434840"/>
            <a:ext cx="4709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A1E27"/>
                </a:solidFill>
                <a:latin typeface="Calibri"/>
              </a:rPr>
              <a:t>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Task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Open synonym discovery: given an academic term (the en column), predict its synonyms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2700">
            <a:solidFill>
              <a:srgbClr val="3D8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11D3A"/>
                </a:solidFill>
                <a:latin typeface="Calibri"/>
              </a:rPr>
              <a:t>Anti-leakage rule (mandatory across the whole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370"/>
                </a:solidFill>
                <a:latin typeface="Calibri"/>
              </a:rPr>
              <a:t>No method may ever see en_synonym (ground truth) until the evaluation step. It is read exactly once in the entire codebase — after a method has already produced its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9525">
            <a:solidFill>
              <a:srgbClr val="E9C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66160"/>
            <a:ext cx="54864" cy="2514600"/>
          </a:xfrm>
          <a:prstGeom prst="rect">
            <a:avLst/>
          </a:prstGeom>
          <a:solidFill>
            <a:srgbClr val="B5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11D3A"/>
                </a:solidFill>
                <a:latin typeface="Calibri"/>
              </a:rPr>
              <a:t>⚠  The leak (previous iteration, new/src2)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9936"/>
            <a:ext cx="5074920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Several methods built their retrieval index directly on df['en_synonym'] — in other words, they searched literally inside the answer column itself.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56616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E8F8F1"/>
          </a:solidFill>
          <a:ln w="9525">
            <a:solidFill>
              <a:srgbClr val="B9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3566160"/>
            <a:ext cx="54864" cy="2514600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6941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11D3A"/>
                </a:solidFill>
                <a:latin typeface="Calibri"/>
              </a:rPr>
              <a:t>✓  The fix (synonic/)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059936"/>
            <a:ext cx="5074920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The candidate vocabulary now comes from WordNet (~147k phrases via nltk) — independent of the dataset and of en_synonym.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D3A"/>
                </a:solidFill>
                <a:latin typeface="Calibri"/>
              </a:rPr>
              <a:t>TU-Expert-Collection-Topic-Synonyms (HuggingFace)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606040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3D8BD3"/>
                </a:solidFill>
                <a:latin typeface="Calibri"/>
              </a:rPr>
              <a:t>970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clean rows after de-duplication / dropping empties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2103120"/>
            <a:ext cx="2606040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3D8BD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81635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columns used: topic, en, en_synonym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103120"/>
            <a:ext cx="2606040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2267712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3D8BD3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81635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gold synonym per term (not a set)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2103120"/>
            <a:ext cx="2606040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2267712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3D8BD3"/>
                </a:solidFill>
                <a:latin typeface="Calibri"/>
              </a:rPr>
              <a:t>EN-only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81635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nl / nl_synonym dropped — project is English-only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1155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topic is a unique identifier per row (topic-12722, …) — 970 unique values for 970 rows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5B6370"/>
                </a:solidFill>
                <a:latin typeface="Calibri"/>
              </a:rPr>
              <a:t>      –  Verified: carries no usable semantic signal — dropped as an extra context source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A single gold synonym per term, not a 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5B6370"/>
                </a:solidFill>
                <a:latin typeface="Calibri"/>
              </a:rPr>
              <a:t>      –  Direct implication for metrics: recall@K, precision@K and MRR simplify / degenerate — see next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Non-agentic baselines  ·  src/baselines.py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same_term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Predicts the term itself. Reference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002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600200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wordnet_direct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093976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Direct lookup of WordNet synsets containing the term. No ML.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002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600200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embedding_wordnet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093976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Embeds the term (all-MiniLM-L6-v2) + cosine retrieval over the WordNet vocabulary (~147k phrases).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673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67328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95344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llm_zero_shot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61104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1 LLM call, free generation of 5 candidates. No retrieval.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37673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3767328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3895344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llm_expansion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4261104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LLM generates 6 query variants → each searches the WordNet index → aggregated by max similarity.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37673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ECECFA"/>
          </a:solidFill>
          <a:ln w="9525">
            <a:solidFill>
              <a:srgbClr val="D3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4152" y="3767328"/>
            <a:ext cx="54864" cy="19659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3895344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llm_rerank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261104"/>
            <a:ext cx="3246120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LLM freely generates 10 candidates → reranked by embedding similarity to the term.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Multi-agent architectures (LangGraph)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v1 · mas_base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29968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Generator 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029968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Retrieval (WordNet)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202996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5816" y="2029968"/>
            <a:ext cx="105156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02996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9984" y="2029968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Verification
0.75·sem+0.25·fuzzy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4" y="202996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2029968"/>
            <a:ext cx="1161288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02996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08208" y="2029968"/>
            <a:ext cx="105156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v2 · mas_llm_ranker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64408"/>
            <a:ext cx="136245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26440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57984" y="3264408"/>
            <a:ext cx="136245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6440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3048" y="3264408"/>
            <a:ext cx="186537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Merge (cap 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8424" y="326440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2" y="3264408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LLM reorders full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26440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264408"/>
            <a:ext cx="105156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679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53A2E"/>
                </a:solidFill>
                <a:latin typeface="Calibri"/>
              </a:rPr>
              <a:t>⚠  Documented negative ablation: LLM reordering hurts results even when it runs correctly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2976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v3 · mas_safe_hybrid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81728"/>
            <a:ext cx="136245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5376" y="468172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57984" y="4681728"/>
            <a:ext cx="136245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68172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3048" y="4681728"/>
            <a:ext cx="1865376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Merge (cap 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8424" y="468172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71032" y="4681728"/>
            <a:ext cx="1664208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LLM reorders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68172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7848" y="4681728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Safe finalizer
0.9·emb+0.1·bonus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8" y="4681728"/>
            <a:ext cx="292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FC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52176" y="4681728"/>
            <a:ext cx="1051560" cy="566928"/>
          </a:xfrm>
          <a:prstGeom prst="roundRect">
            <a:avLst>
              <a:gd name="adj" fmla="val 18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21A379"/>
                </a:solidFill>
                <a:latin typeface="Calibri"/>
              </a:rPr>
              <a:t>✓  The LLM can only add a bonus — it never penalizes a candidate it left out of its reordering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Technical definitions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" cy="21488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D3A"/>
                </a:solidFill>
                <a:latin typeface="Calibri"/>
              </a:rPr>
              <a:t>Candidates returned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5074920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370"/>
                </a:solidFill>
                <a:latin typeface="Calibri"/>
              </a:rPr>
              <a:t>num_final_candidates per row, avg_num_candidates_returned in the summary. Always read alongside exact_any / recall@K — returning more candidates trivially raises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600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600200"/>
            <a:ext cx="54864" cy="21488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2821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D3A"/>
                </a:solidFill>
                <a:latin typeface="Calibri"/>
              </a:rPr>
              <a:t>exact_top1 / exact_any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093976"/>
            <a:ext cx="5074920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370"/>
                </a:solidFill>
                <a:latin typeface="Calibri"/>
              </a:rPr>
              <a:t>exact_top1: candidate #1 matches the gold exactly (normalized). exact_any: the gold appears anywhere in the returned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50208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54864" cy="21488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D3A"/>
                </a:solidFill>
                <a:latin typeface="Calibri"/>
              </a:rPr>
              <a:t>recall@3 / recall@5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43984"/>
            <a:ext cx="5074920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370"/>
                </a:solidFill>
                <a:latin typeface="Calibri"/>
              </a:rPr>
              <a:t>With a single gold synonym per term, recall@K = “did the correct answer appear in the top K?” — not classic multi-item IR recall, there is nothing else to recall.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950208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950208"/>
            <a:ext cx="54864" cy="21488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078224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D3A"/>
                </a:solidFill>
                <a:latin typeface="Calibri"/>
              </a:rPr>
              <a:t>precision@5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443984"/>
            <a:ext cx="5074920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370"/>
                </a:solidFill>
                <a:latin typeface="Calibri"/>
              </a:rPr>
              <a:t>(# of the 5 candidates that exactly match the gold) / 5 — mathematically capped at 0.2. Doesn't penalize the other 4 candidates for being “wrong” (they may be valid, unrecorded synonyms) → recall@5 / exact_any are preferred.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Technical definitions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" cy="42062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MRR — Mean Reciprocal 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3246120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1 / rank of the hit's position in the list (0 if absent), averaged across terms. Rank 1 → 1.0  ·  Rank 2 → 0.5  ·  Rank 4 → 0.25  ·  Absent → 0. Rewards placing the correct answer near the top even when it isn't #1.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002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600200"/>
            <a:ext cx="54864" cy="42062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fuzzy_similarity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093976"/>
            <a:ext cx="3246120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rapidfuzz.fuzz.ratio(normalized gold, normalized candidate) / 100, max over candidates. fuzz.ratio = normalized edit (indel) similarity: 100 × (1 − edit_dist / (len(a)+len(b))). A LEXICAL / spelling metric (e.g. 'optimise' vs 'optimize'), NOT one of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002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E4F7F4"/>
          </a:solidFill>
          <a:ln w="9525">
            <a:solidFill>
              <a:srgbClr val="BF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600200"/>
            <a:ext cx="54864" cy="4206240"/>
          </a:xfrm>
          <a:prstGeom prst="rect">
            <a:avLst/>
          </a:prstGeom>
          <a:solidFill>
            <a:srgbClr val="1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semantic_similarity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093976"/>
            <a:ext cx="3246120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Cosine similarity between embeddings of the gold and each candidate, using sentence-transformers/all-MiniLM-L6-v2. Embeddings are L2-normalized ⇒ cosine similarity = dot product, max over candidates. A MEANING metric — can be high without sharing a single word with the gold.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C7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METHODOLOGICAL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Finding: the original reference was corrupted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C7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83112" cy="658368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2700">
            <a:solidFill>
              <a:srgbClr val="C7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530E"/>
                </a:solidFill>
                <a:latin typeface="Calibri"/>
              </a:rPr>
              <a:t>⚠  The initial 300-term reference CSV was invalid for 5 of 9 methods — at generation time the LLM was failing silently (Ollama unavailable).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7B1E"/>
                </a:solidFill>
                <a:latin typeface="Calibri"/>
              </a:rPr>
              <a:t>EVIDENCE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llm_zero_shot and llm_rerank returned candidates=[] in 100% of the 299 rows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mas_llm_ranker, mas_safe_hybrid and llm_expansion were byte-for-byte identical to embedding_wordnet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5B6370"/>
                </a:solidFill>
                <a:latin typeface="Calibri"/>
              </a:rPr>
              <a:t>      –  → they had silently fallen back to their retrieval-only fallback, never exercising the LLM at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34840"/>
            <a:ext cx="11183112" cy="1600200"/>
          </a:xfrm>
          <a:prstGeom prst="roundRect">
            <a:avLst>
              <a:gd name="adj" fmla="val 8000"/>
            </a:avLst>
          </a:prstGeom>
          <a:solidFill>
            <a:srgbClr val="E8F8F1"/>
          </a:solidFill>
          <a:ln w="12700">
            <a:solidFill>
              <a:srgbClr val="21A3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A379"/>
                </a:solidFill>
                <a:latin typeface="Calibri"/>
              </a:rPr>
              <a:t>CORRECTIVE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A1E27"/>
                </a:solidFill>
                <a:latin typeface="Calibri"/>
              </a:rPr>
              <a:t>▸  Verified the current code works (Ollama active, llama3.2:3b)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A1E27"/>
                </a:solidFill>
                <a:latin typeface="Calibri"/>
              </a:rPr>
              <a:t>▸  Regenerated a valid 100-term × 10-method comparison, with 0 unexpected failures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A1E27"/>
                </a:solidFill>
                <a:latin typeface="Calibri"/>
              </a:rPr>
              <a:t>▸  Every result in this presentation comes from that valid comparison, not the original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NEW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hybrid_fusion —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E8F8F1"/>
          </a:solidFill>
          <a:ln w="9525">
            <a:solidFill>
              <a:srgbClr val="B9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" cy="1234440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Empirical observation  (on already-verified, non-corrupted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10817352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370"/>
                </a:solidFill>
                <a:latin typeface="Calibri"/>
              </a:rPr>
              <a:t>Free LLM generation (llm_zero_shot, llm_rerank) consistently outperforms retrieval constrained to WordNet (embedding_wordnet, MAS).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9525">
            <a:solidFill>
              <a:srgbClr val="C7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54864" cy="1691640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91256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Explanatory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1081735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370"/>
                </a:solidFill>
                <a:latin typeface="Calibri"/>
              </a:rPr>
              <a:t>Gold synonyms are often specific academic phrases (e.g. ‘employment issues’ for ‘labour market issues’). Many of these likely don't exist as literal WordNet lemmas → restricting candidates to the WordNet vocabulary structurally caps recall on this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B53A2E"/>
                </a:solidFill>
                <a:latin typeface="Calibri"/>
              </a:rPr>
              <a:t>mas_llm_ranker is a documented negative ablation even when it works correctly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Goal: combine the strength of free generation with the robustness / coverage of retrieval, without losing recall.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NEW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hybrid_fusion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581912"/>
            <a:ext cx="10570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Self-consistency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10570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3 LLM calls at temperature=0.7 (same prompt as llm_rerank, already validated as the best). Each call in its own try/except — one failure out of 3 doesn't empty the whole pool.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984248"/>
            <a:ext cx="19050" cy="530352"/>
          </a:xfrm>
          <a:prstGeom prst="rect">
            <a:avLst/>
          </a:prstGeom>
          <a:solidFill>
            <a:srgbClr val="BE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496312"/>
            <a:ext cx="10570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Pool + rerank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807208"/>
            <a:ext cx="10570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Deduplicate (normalize()) the 3 responses, excluding the term itself. Reranked by cosine similarity to the term → list A (free-generation signal).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898648"/>
            <a:ext cx="19050" cy="530352"/>
          </a:xfrm>
          <a:prstGeom prst="rect">
            <a:avLst/>
          </a:prstGeom>
          <a:solidFill>
            <a:srgbClr val="BE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410712"/>
            <a:ext cx="10570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Safety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3721608"/>
            <a:ext cx="10570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If the pool ends up empty (total LLM failure) → falls back to pure WordNet retrieval, never returns [].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813048"/>
            <a:ext cx="19050" cy="530352"/>
          </a:xfrm>
          <a:prstGeom prst="rect">
            <a:avLst/>
          </a:prstGeom>
          <a:solidFill>
            <a:srgbClr val="BE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343400"/>
            <a:ext cx="384048" cy="384048"/>
          </a:xfrm>
          <a:prstGeom prst="ellipse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325112"/>
            <a:ext cx="10570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WordNet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4636008"/>
            <a:ext cx="10570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Top-10 nearest neighbors by embedding → list B (retrieval signal).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4727448"/>
            <a:ext cx="19050" cy="530352"/>
          </a:xfrm>
          <a:prstGeom prst="rect">
            <a:avLst/>
          </a:prstGeom>
          <a:solidFill>
            <a:srgbClr val="BE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5257800"/>
            <a:ext cx="384048" cy="384048"/>
          </a:xfrm>
          <a:prstGeom prst="ellipse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239512"/>
            <a:ext cx="10570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D3A"/>
                </a:solidFill>
                <a:latin typeface="Calibri"/>
              </a:rPr>
              <a:t>Weighted Reciprocal Rank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5550408"/>
            <a:ext cx="10570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70"/>
                </a:solidFill>
                <a:latin typeface="Calibri"/>
              </a:rPr>
              <a:t>score(candidate) = 1.0/(60+rank_A) + 0.5/(60+rank_B). Higher weight on the LLM signal (1.0) than WordNet (0.5), consistent with the empirical evidence above. Returns the top-5 candidates by fused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Quality — 100 terms, llama3.2:3b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9966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1234440"/>
                <a:gridCol w="1143000"/>
                <a:gridCol w="1143000"/>
                <a:gridCol w="960120"/>
                <a:gridCol w="1234440"/>
                <a:gridCol w="1143000"/>
              </a:tblGrid>
              <a:tr h="35744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Cand.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exact_top1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exact_any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fuzzy_sim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sem_sim</a:t>
                      </a:r>
                    </a:p>
                  </a:txBody>
                  <a:tcPr anchor="ctr" marT="38100" marB="38100">
                    <a:solidFill>
                      <a:srgbClr val="111D3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A379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 anchor="ctr" marT="25400" marB="25400" marL="76200" marR="76200">
                    <a:solidFill>
                      <a:srgbClr val="E8F8F1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mas_safe_hybrid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0.686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mas_base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0.119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0.668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0.727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mas_llm_ranker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0.677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llm_expansion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0.292</a:t>
                      </a:r>
                    </a:p>
                  </a:txBody>
                  <a:tcPr anchor="ctr" marT="25400" marB="25400" marL="76200" marR="76200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0.553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E27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 anchor="ctr" marT="25400" marB="25400" marL="76200" marR="762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742432"/>
            <a:ext cx="11183112" cy="566928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42432"/>
            <a:ext cx="10698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hybrid_fusion ranks #1 in exact_any, recall@5, fuzzy_similarity and semantic_similarity — the preferred metrics with a single gold synonym.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Time cost  ·  30 terms, llama3.2:3b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same_term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700784"/>
            <a:ext cx="54864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1645920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0.00s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embedding_wordnet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103120"/>
            <a:ext cx="54864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464" y="2048256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0.02s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wordnet_direct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505456"/>
            <a:ext cx="59266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3866" y="2450592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0.05s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llm_zero_shot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907792"/>
            <a:ext cx="924560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9160" y="2852928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0.78s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llm_expansion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3310128"/>
            <a:ext cx="1031240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5840" y="3255264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0.87s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llm_rerank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712464"/>
            <a:ext cx="1185333" cy="274320"/>
          </a:xfrm>
          <a:prstGeom prst="roundRect">
            <a:avLst>
              <a:gd name="adj" fmla="val 50000"/>
            </a:avLst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9933" y="3657600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D8BD3"/>
                </a:solidFill>
                <a:latin typeface="Calibri"/>
              </a:rPr>
              <a:t>1.00s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5993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mas_base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4114800"/>
            <a:ext cx="1220893" cy="27432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5493" y="4059936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C7"/>
                </a:solidFill>
                <a:latin typeface="Calibri"/>
              </a:rPr>
              <a:t>1.03s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62272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D3A"/>
                </a:solidFill>
                <a:latin typeface="Calibri"/>
              </a:rPr>
              <a:t>hybrid_fusion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4517136"/>
            <a:ext cx="3544146" cy="274320"/>
          </a:xfrm>
          <a:prstGeom prst="roundRect">
            <a:avLst>
              <a:gd name="adj" fmla="val 50000"/>
            </a:avLst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8746" y="4462272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1A379"/>
                </a:solidFill>
                <a:latin typeface="Calibri"/>
              </a:rPr>
              <a:t>2.99s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64608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mas_llm_ranker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4919472"/>
            <a:ext cx="4433146" cy="27432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7746" y="4864608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C7"/>
                </a:solidFill>
                <a:latin typeface="Calibri"/>
              </a:rPr>
              <a:t>3.74s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6694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7"/>
                </a:solidFill>
                <a:latin typeface="Calibri"/>
              </a:rPr>
              <a:t>mas_safe_hybrid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23160" y="5321808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5266944"/>
            <a:ext cx="731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C7"/>
                </a:solidFill>
                <a:latin typeface="Calibri"/>
              </a:rPr>
              <a:t>3.78s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64592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A1E27"/>
                </a:solidFill>
                <a:latin typeface="Calibri"/>
              </a:rPr>
              <a:t>▸  hybrid_fusion: ~3–4x slower than llm_zero_shot / llm_rerank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 i="0">
                <a:solidFill>
                  <a:srgbClr val="5B6370"/>
                </a:solidFill>
                <a:latin typeface="Calibri"/>
              </a:rPr>
              <a:t>      –  Direct cost of the 3 self-consistency calls (vs. 1 call)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A1E27"/>
                </a:solidFill>
                <a:latin typeface="Calibri"/>
              </a:rPr>
              <a:t>▸  But faster than mas_llm_ranker / mas_safe_hybrid (~3.7–3.8s)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 i="0">
                <a:solidFill>
                  <a:srgbClr val="5B6370"/>
                </a:solidFill>
                <a:latin typeface="Calibri"/>
              </a:rPr>
              <a:t>      –  …which also produce worse quality on every metric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A1E27"/>
                </a:solidFill>
                <a:latin typeface="Calibri"/>
              </a:rPr>
              <a:t>▸  An explicit trade-off, not an unexpected side effect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566160" cy="54864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21A379"/>
                </a:solidFill>
                <a:latin typeface="Calibri"/>
              </a:rPr>
              <a:t>+15%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relative recall@5 / exact_any vs. runner-up (0.30 vs. 0.26)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600200"/>
            <a:ext cx="3566160" cy="54864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76479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21A379"/>
                </a:solidFill>
                <a:latin typeface="Calibri"/>
              </a:rPr>
              <a:t>#1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3134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on fuzzy_similarity and semantic_similarity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6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1600200"/>
            <a:ext cx="3566160" cy="54864"/>
          </a:xfrm>
          <a:prstGeom prst="rect">
            <a:avLst/>
          </a:prstGeom>
          <a:solidFill>
            <a:srgbClr val="21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6479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21A379"/>
                </a:solidFill>
                <a:latin typeface="Calibri"/>
              </a:rPr>
              <a:t>~3x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3134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370"/>
                </a:solidFill>
                <a:latin typeface="Calibri"/>
              </a:rPr>
              <a:t>slower than a single LLM call — the explicit self-consistency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7B1E"/>
                </a:solidFill>
                <a:latin typeface="Calibri"/>
              </a:rPr>
              <a:t>HONEST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6616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1A1E27"/>
                </a:solidFill>
                <a:latin typeface="Calibri"/>
              </a:rPr>
              <a:t>▸  Slightly behind llm_zero_shot on exact_top1 (0.11 vs 0.17) and MRR (0.184 vs 0.201)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5B6370"/>
                </a:solidFill>
                <a:latin typeface="Calibri"/>
              </a:rPr>
              <a:t>      –  Explanation: ensembling gains top-5 coverage but slightly dilutes rank-1 precision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DF1DF"/>
          </a:solidFill>
          <a:ln w="12700">
            <a:solidFill>
              <a:srgbClr val="C7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530E"/>
                </a:solidFill>
                <a:latin typeface="Calibri"/>
              </a:rPr>
              <a:t>Statistical caveat: n = 100 terms — the advantage is real but has not yet been confirmed with a formal significance test (e.g. paired McNemar).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11D3A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11183112" cy="279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29E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29E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6479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Validate at larger scale: 300–970 terms (full dataset)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8211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Paired per-term statistical significance test (McNemar) on recall@5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461772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9943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Close the exact_top1 / MRR gap: tune RRF fusion weights (weight_llm / weight_wordnet)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0020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78308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6479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Evaluate sensitivity to self-consistency's n_samples and temperature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1752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18211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Consider an additional ensemble combining hybrid_fusion with mas_safe_hybrid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43484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617720"/>
            <a:ext cx="365760" cy="36576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599432"/>
            <a:ext cx="4434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E27"/>
                </a:solidFill>
                <a:latin typeface="Calibri"/>
              </a:rPr>
              <a:t>Try a larger LLM (deepseek-r1:8b) to isolate architecture effect vs. model capacity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AA7C4"/>
                </a:solidFill>
                <a:latin typeface="Calibri"/>
              </a:rPr>
              <a:t>Code and results: synonic/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